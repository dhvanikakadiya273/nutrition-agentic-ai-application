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fe6c6c7c21f4bd5" /><Relationship Type="http://schemas.openxmlformats.org/package/2006/relationships/metadata/core-properties" Target="/docProps/core.xml" Id="Rbee16a3679794ba0" /><Relationship Type="http://schemas.openxmlformats.org/officeDocument/2006/relationships/extended-properties" Target="/docProps/app.xml" Id="R78e4f37d4ec74d60" /><Relationship Type="http://schemas.openxmlformats.org/officeDocument/2006/relationships/custom-properties" Target="/docProps/custom.xml" Id="R204a2b640b904a0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1dc10e62b8443cb"/>
  </p:notesMasterIdLst>
  <p:sldIdLst>
    <p:sldId id="256" r:id="R77ddd94b41bc492a"/>
    <p:sldId id="257" r:id="Refc85b154d6145be"/>
    <p:sldId id="258" r:id="Rd36178c87b454197"/>
    <p:sldId id="259" r:id="Rf17b08becb014512"/>
    <p:sldId id="260" r:id="R84a2eb333bc54c99"/>
    <p:sldId id="261" r:id="R3bb7c63a206b47f6"/>
    <p:sldId id="262" r:id="R98426c4c570346bc"/>
    <p:sldId id="263" r:id="R7327bd27a5ed4669"/>
    <p:sldId id="264" r:id="R0523b6136a634646"/>
    <p:sldId id="265" r:id="R1c313ff1124348c6"/>
    <p:sldId id="266" r:id="Ra657cd98984a4422"/>
    <p:sldId id="267" r:id="R1a75cece148041a9"/>
    <p:sldId id="268" r:id="Raa4d989c637d4cb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7ddd94b41bc492a" /><Relationship Type="http://schemas.openxmlformats.org/officeDocument/2006/relationships/notesMaster" Target="/ppt/notesMasters/notesMaster1.xml" Id="R41dc10e62b8443cb" /><Relationship Type="http://schemas.openxmlformats.org/officeDocument/2006/relationships/slide" Target="/ppt/slides/slide2.xml" Id="Refc85b154d6145be" /><Relationship Type="http://schemas.openxmlformats.org/officeDocument/2006/relationships/slide" Target="/ppt/slides/slide3.xml" Id="Rd36178c87b454197" /><Relationship Type="http://schemas.openxmlformats.org/officeDocument/2006/relationships/slide" Target="/ppt/slides/slide4.xml" Id="Rf17b08becb014512" /><Relationship Type="http://schemas.openxmlformats.org/officeDocument/2006/relationships/slide" Target="/ppt/slides/slide5.xml" Id="R84a2eb333bc54c99" /><Relationship Type="http://schemas.openxmlformats.org/officeDocument/2006/relationships/slide" Target="/ppt/slides/slide6.xml" Id="R3bb7c63a206b47f6" /><Relationship Type="http://schemas.openxmlformats.org/officeDocument/2006/relationships/slide" Target="/ppt/slides/slide7.xml" Id="R98426c4c570346bc" /><Relationship Type="http://schemas.openxmlformats.org/officeDocument/2006/relationships/slide" Target="/ppt/slides/slide8.xml" Id="R7327bd27a5ed4669" /><Relationship Type="http://schemas.openxmlformats.org/officeDocument/2006/relationships/slide" Target="/ppt/slides/slide9.xml" Id="R0523b6136a634646" /><Relationship Type="http://schemas.openxmlformats.org/officeDocument/2006/relationships/slide" Target="/ppt/slides/slide10.xml" Id="R1c313ff1124348c6" /><Relationship Type="http://schemas.openxmlformats.org/officeDocument/2006/relationships/slide" Target="/ppt/slides/slide11.xml" Id="Ra657cd98984a4422" /><Relationship Type="http://schemas.openxmlformats.org/officeDocument/2006/relationships/slide" Target="/ppt/slides/slide12.xml" Id="R1a75cece148041a9" /><Relationship Type="http://schemas.openxmlformats.org/officeDocument/2006/relationships/slide" Target="/ppt/slides/slide13.xml" Id="Raa4d989c637d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0ce8e915f74c9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3fbe6d4590e4521" /><Relationship Type="http://schemas.openxmlformats.org/officeDocument/2006/relationships/slide" Target="/ppt/slides/slide1.xml" Id="Rebca1d1bbe5d4f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f7a78b20914737" /><Relationship Type="http://schemas.openxmlformats.org/officeDocument/2006/relationships/slide" Target="/ppt/slides/slide2.xml" Id="R5182d18083b245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7271b4519a24918" /><Relationship Type="http://schemas.openxmlformats.org/officeDocument/2006/relationships/slide" Target="/ppt/slides/slide3.xml" Id="Rbb6dd7f92e5543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bab821097a47e5" /><Relationship Type="http://schemas.openxmlformats.org/officeDocument/2006/relationships/slide" Target="/ppt/slides/slide4.xml" Id="Rd9222737d6a2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a842dd82864855" /><Relationship Type="http://schemas.openxmlformats.org/officeDocument/2006/relationships/slide" Target="/ppt/slides/slide5.xml" Id="R88a5b17a26b344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f8c4fa422d44415" /><Relationship Type="http://schemas.openxmlformats.org/officeDocument/2006/relationships/slide" Target="/ppt/slides/slide6.xml" Id="R881d33ba10834c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7dcf6c2ea514743" /><Relationship Type="http://schemas.openxmlformats.org/officeDocument/2006/relationships/slide" Target="/ppt/slides/slide7.xml" Id="R905d11e0beaa49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b9579f47ad340e6" /><Relationship Type="http://schemas.openxmlformats.org/officeDocument/2006/relationships/slide" Target="/ppt/slides/slide8.xml" Id="R70b0937476714d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66c304b24b49eb" /><Relationship Type="http://schemas.openxmlformats.org/officeDocument/2006/relationships/slide" Target="/ppt/slides/slide9.xml" Id="R706c4fb27e6d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c5ac6cc48004e27" /><Relationship Type="http://schemas.openxmlformats.org/officeDocument/2006/relationships/slide" Target="/ppt/slides/slide10.xml" Id="Rcb94915616c443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a255faafb734a23" /><Relationship Type="http://schemas.openxmlformats.org/officeDocument/2006/relationships/slide" Target="/ppt/slides/slide11.xml" Id="R9594678b320b4d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f7ead319771464f" /><Relationship Type="http://schemas.openxmlformats.org/officeDocument/2006/relationships/slide" Target="/ppt/slides/slide12.xml" Id="Rac19f8668ba243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c469df02a1c4470" /><Relationship Type="http://schemas.openxmlformats.org/officeDocument/2006/relationships/slide" Target="/ppt/slides/slide13.xml" Id="R6c912741ad2e42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slide. NutritionAgent is an IBM Bob powered AI agent for personalized dietary advice.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presentation covers the full NutritionAgent project from overview to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NutritionAgent bridges the gap between complex nutritional science and everyday users through conversational AI powered by IBM WatsonX.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core capabilities of NutritionAgent. Each feature is implemented as a discrete IBM Bob tool that the agent selects based on user intent.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 flow: User interacts via Streamlit UI, which calls the IBM Bob agent core. The agent selects appropriate tools and calls IBM WatsonX for LLM inference.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 technology stack from AI backbone to testing. IBM WatsonX provides the LLM; IBM Bob / LangChain-IBM provides the agent framework.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follows a clean modular layout. Each capability lives in its own tool module. The agent.py binds everything together via IBM Bob.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Four-step install: clone, virtualenv, install deps, run. The entire setup takes under 5 minutes assuming Python and pip are already installed.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.env file holds all credentials. It is excluded by .gitignore. The .env.example committed to the repo shows required keys without real values.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simulated screenshots showing the four primary agent capabilities: nutrition lookup, meal planning, calorie calculation, and dietary restriction guidance.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Real-world sample queries demonstrating each agent tool. The agent routes to the correct tool based on natural language intent recognition.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three files — README, .gitignore, and requirements.txt — are pushed to the public GitHub repository. The repo is now ready for cloning and contribution.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Key takeaways: IBM WatsonX AI as backbone, modular tool-based architecture, easy setup. Next steps: voice, image recognition, user profiles, live API data.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8134689dbb4e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3bb061bcc48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6b3ddd4ae4a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09d5ed67343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9fa984e50481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f633ce95915421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014d0a2454ef3" /><Relationship Type="http://schemas.openxmlformats.org/officeDocument/2006/relationships/notesSlide" Target="/ppt/notesSlides/notesSlide1.xml" Id="Rba1907edceeb49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add7aa3804250" /><Relationship Type="http://schemas.openxmlformats.org/officeDocument/2006/relationships/notesSlide" Target="/ppt/notesSlides/notesSlide2.xml" Id="Rdd43bc4871c649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031da2d894606" /><Relationship Type="http://schemas.openxmlformats.org/officeDocument/2006/relationships/notesSlide" Target="/ppt/notesSlides/notesSlide3.xml" Id="Ree7f68cbc7874a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ee1a1b5864629" /><Relationship Type="http://schemas.openxmlformats.org/officeDocument/2006/relationships/notesSlide" Target="/ppt/notesSlides/notesSlide4.xml" Id="R60c52a0fcaa8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23ded58b24593" /><Relationship Type="http://schemas.openxmlformats.org/officeDocument/2006/relationships/notesSlide" Target="/ppt/notesSlides/notesSlide5.xml" Id="Rb8eeb554523c45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d33707f3a490e" /><Relationship Type="http://schemas.openxmlformats.org/officeDocument/2006/relationships/notesSlide" Target="/ppt/notesSlides/notesSlide6.xml" Id="Raebc527435194c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95fc320fe41b5" /><Relationship Type="http://schemas.openxmlformats.org/officeDocument/2006/relationships/notesSlide" Target="/ppt/notesSlides/notesSlide7.xml" Id="R2c52733285814f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2064b5f9747f9" /><Relationship Type="http://schemas.openxmlformats.org/officeDocument/2006/relationships/notesSlide" Target="/ppt/notesSlides/notesSlide8.xml" Id="Re62cb4545e2f41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2e74333aa42cb" /><Relationship Type="http://schemas.openxmlformats.org/officeDocument/2006/relationships/notesSlide" Target="/ppt/notesSlides/notesSlide9.xml" Id="Rc0b1b237b0894b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cd0b552254fa0" /><Relationship Type="http://schemas.openxmlformats.org/officeDocument/2006/relationships/notesSlide" Target="/ppt/notesSlides/notesSlide10.xml" Id="R5a9528bd0efb4f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2574646594f83" /><Relationship Type="http://schemas.openxmlformats.org/officeDocument/2006/relationships/notesSlide" Target="/ppt/notesSlides/notesSlide11.xml" Id="R20455ed4a5b34a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cb4a7a7cc4fc0" /><Relationship Type="http://schemas.openxmlformats.org/officeDocument/2006/relationships/notesSlide" Target="/ppt/notesSlides/notesSlide12.xml" Id="Rb8d899bcc4434b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19422beeb46da" /><Relationship Type="http://schemas.openxmlformats.org/officeDocument/2006/relationships/notesSlide" Target="/ppt/notesSlides/notesSlide13.xml" Id="R097daa4aae4c4a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3D62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BC9C"/>
              </a:solidFill>
            </a:endParaRPr>
          </a:p>
        </p:txBody>
      </p:sp>
      <p:sp>
        <p:nvSpPr>
          <p:cNvPr id="100001" name="MainTitle"/>
          <p:cNvSpPr txBox="1"/>
          <p:nvPr/>
        </p:nvSpPr>
        <p:spPr>
          <a:xfrm xmlns:a="http://schemas.openxmlformats.org/drawingml/2006/main">
            <a:off x="720000" y="108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Calibri"/>
                <a:ea typeface="Calibri"/>
              </a:rPr>
              <a:t>NutritionAgent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448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A8D8EA"/>
                </a:solidFill>
                <a:latin typeface="Calibri"/>
                <a:ea typeface="Calibri"/>
              </a:rPr>
              <a:t>AI-Powered Dietary Intelligence</a:t>
            </a:r>
          </a:p>
          <a:p xmlns:a="http://schemas.openxmlformats.org/drawingml/2006/main">
            <a:r>
              <a:rPr lang="en-US" sz="2400" b="0">
                <a:solidFill>
                  <a:srgbClr val="A8D8EA"/>
                </a:solidFill>
                <a:latin typeface="Calibri"/>
                <a:ea typeface="Calibri"/>
              </a:rPr>
              <a:t>Built with IBM Bob &amp; WatsonX AI</a:t>
            </a:r>
          </a:p>
        </p:txBody>
      </p:sp>
      <p:sp>
        <p:nvSpPr>
          <p:cNvPr id="100003" name="RepoLabel"/>
          <p:cNvSpPr txBox="1"/>
          <p:nvPr/>
        </p:nvSpPr>
        <p:spPr>
          <a:xfrm xmlns:a="http://schemas.openxmlformats.org/drawingml/2006/main">
            <a:off x="720000" y="504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alibri"/>
                <a:ea typeface="Calibri"/>
              </a:rPr>
              <a:t>github.com/YogeshRaje/NutritionAgent-IBMBob</a:t>
            </a:r>
          </a:p>
        </p:txBody>
      </p:sp>
      <p:sp>
        <p:nvSpPr>
          <p:cNvPr id="100004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BC9C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06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100007" name="AgendaList"/>
          <p:cNvSpPr txBox="1"/>
          <p:nvPr/>
        </p:nvSpPr>
        <p:spPr>
          <a:xfrm xmlns:a="http://schemas.openxmlformats.org/drawingml/2006/main">
            <a:off x="1080000" y="720000"/>
            <a:ext cx="10080000" cy="54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01  Project Overview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02  Problem Statement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03  Key Features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04  System Architecture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05  Technology Stack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06  Project Structure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07  Installation &amp; Setup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08  Configuration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09  Application Demo &amp; Screenshots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10  Sample Queries &amp; Outputs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11  Deployment to GitHub</a:t>
            </a:r>
          </a:p>
          <a:p xmlns:a="http://schemas.openxmlformats.org/drawingml/2006/main">
            <a:r>
              <a:rPr lang="en-US" sz="2000">
                <a:solidFill>
                  <a:srgbClr val="1F2328"/>
                </a:solidFill>
                <a:latin typeface="Calibri"/>
                <a:ea typeface="Calibri"/>
              </a:rPr>
              <a:t>12  Conclusion &amp; Next Steps</a:t>
            </a:r>
          </a:p>
        </p:txBody>
      </p:sp>
      <p:sp>
        <p:nvSpPr>
          <p:cNvPr id="100008" name="AccentBar"/>
          <p:cNvSpPr txBox="1"/>
          <p:nvPr/>
        </p:nvSpPr>
        <p:spPr>
          <a:xfrm xmlns:a="http://schemas.openxmlformats.org/drawingml/2006/main">
            <a:off x="540000" y="720000"/>
            <a:ext cx="108000" cy="5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BC9C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9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10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11" name="OverviewText"/>
          <p:cNvSpPr txBox="1"/>
          <p:nvPr/>
        </p:nvSpPr>
        <p:spPr>
          <a:xfrm xmlns:a="http://schemas.openxmlformats.org/drawingml/2006/main">
            <a:off x="540000" y="648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F2328"/>
                </a:solidFill>
                <a:latin typeface="Calibri"/>
                <a:ea typeface="Calibri"/>
              </a:rPr>
              <a:t>NutritionAgent is an AI-powered conversational agent that leverages IBM WatsonX (via IBM Bob) to deliver personalized nutrition guidance, meal plans, calorie tracking, and evidence-based dietary recommendations.</a:t>
            </a:r>
          </a:p>
        </p:txBody>
      </p:sp>
      <p:sp>
        <p:nvSpPr>
          <p:cNvPr id="100012" name="Box1"/>
          <p:cNvSpPr txBox="1"/>
          <p:nvPr/>
        </p:nvSpPr>
        <p:spPr>
          <a:xfrm xmlns:a="http://schemas.openxmlformats.org/drawingml/2006/main">
            <a:off x="540000" y="1800000"/>
            <a:ext cx="32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PROBLEM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Millions lack access to personalized, real-time dietary guidance.</a:t>
            </a:r>
          </a:p>
        </p:txBody>
      </p:sp>
      <p:sp>
        <p:nvSpPr>
          <p:cNvPr id="100013" name="Box2"/>
          <p:cNvSpPr txBox="1"/>
          <p:nvPr/>
        </p:nvSpPr>
        <p:spPr>
          <a:xfrm xmlns:a="http://schemas.openxmlformats.org/drawingml/2006/main">
            <a:off x="4320000" y="1800000"/>
            <a:ext cx="32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SOLUTION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An intelligent AI agent that answers nutrition queries in natural language.</a:t>
            </a:r>
          </a:p>
        </p:txBody>
      </p:sp>
      <p:sp>
        <p:nvSpPr>
          <p:cNvPr id="100014" name="Box3"/>
          <p:cNvSpPr txBox="1"/>
          <p:nvPr/>
        </p:nvSpPr>
        <p:spPr>
          <a:xfrm xmlns:a="http://schemas.openxmlformats.org/drawingml/2006/main">
            <a:off x="8100000" y="1800000"/>
            <a:ext cx="32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98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IMPACT</a:t>
            </a:r>
          </a:p>
          <a:p xmlns:a="http://schemas.openxmlformats.org/drawingml/2006/main">
            <a:r>
              <a:rPr lang="en-US" sz="1600" b="0">
                <a:solidFill>
                  <a:srgbClr val="FFFFFF"/>
                </a:solidFill>
                <a:latin typeface="Calibri"/>
                <a:ea typeface="Calibri"/>
              </a:rPr>
              <a:t>Faster, evidence-based health decisions for every dietary goal.</a:t>
            </a:r>
          </a:p>
        </p:txBody>
      </p:sp>
      <p:sp>
        <p:nvSpPr>
          <p:cNvPr id="100015" name="RepoRef"/>
          <p:cNvSpPr txBox="1"/>
          <p:nvPr/>
        </p:nvSpPr>
        <p:spPr>
          <a:xfrm xmlns:a="http://schemas.openxmlformats.org/drawingml/2006/main">
            <a:off x="540000" y="630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7606A"/>
                </a:solidFill>
                <a:latin typeface="Calibri"/>
                <a:ea typeface="Calibri"/>
              </a:rPr>
              <a:t>Repository: github.com/YogeshRaje/NutritionAgent-IBMBob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6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17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Key Features</a:t>
            </a:r>
          </a:p>
        </p:txBody>
      </p:sp>
      <p:sp>
        <p:nvSpPr>
          <p:cNvPr id="100018" name="F1"/>
          <p:cNvSpPr txBox="1"/>
          <p:nvPr/>
        </p:nvSpPr>
        <p:spPr>
          <a:xfrm xmlns:a="http://schemas.openxmlformats.org/drawingml/2006/main">
            <a:off x="540000" y="648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Food Nutrition Lookup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Detailed macro &amp; micronutrient info for any food item via natural language query.</a:t>
            </a:r>
          </a:p>
        </p:txBody>
      </p:sp>
      <p:sp>
        <p:nvSpPr>
          <p:cNvPr id="100019" name="F2"/>
          <p:cNvSpPr txBox="1"/>
          <p:nvPr/>
        </p:nvSpPr>
        <p:spPr>
          <a:xfrm xmlns:a="http://schemas.openxmlformats.org/drawingml/2006/main">
            <a:off x="6120000" y="648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Meal Planning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Personalized weekly meal plans based on caloric goals and dietary preferences.</a:t>
            </a:r>
          </a:p>
        </p:txBody>
      </p:sp>
      <p:sp>
        <p:nvSpPr>
          <p:cNvPr id="100020" name="F3"/>
          <p:cNvSpPr txBox="1"/>
          <p:nvPr/>
        </p:nvSpPr>
        <p:spPr>
          <a:xfrm xmlns:a="http://schemas.openxmlformats.org/drawingml/2006/main">
            <a:off x="540000" y="2232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Calorie Tracking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Calculates daily caloric needs using BMI, weight, height, and activity level.</a:t>
            </a:r>
          </a:p>
        </p:txBody>
      </p:sp>
      <p:sp>
        <p:nvSpPr>
          <p:cNvPr id="100021" name="F4"/>
          <p:cNvSpPr txBox="1"/>
          <p:nvPr/>
        </p:nvSpPr>
        <p:spPr>
          <a:xfrm xmlns:a="http://schemas.openxmlformats.org/drawingml/2006/main">
            <a:off x="6120000" y="2232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Conversational AI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Multi-turn dialogue powered by IBM WatsonX LLM for context-aware responses.</a:t>
            </a:r>
          </a:p>
        </p:txBody>
      </p:sp>
      <p:sp>
        <p:nvSpPr>
          <p:cNvPr id="100022" name="F5"/>
          <p:cNvSpPr txBox="1"/>
          <p:nvPr/>
        </p:nvSpPr>
        <p:spPr>
          <a:xfrm xmlns:a="http://schemas.openxmlformats.org/drawingml/2006/main">
            <a:off x="540000" y="3816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Diet Analysis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Analyzes uploaded meals and suggests evidence-based dietary improvements.</a:t>
            </a:r>
          </a:p>
        </p:txBody>
      </p:sp>
      <p:sp>
        <p:nvSpPr>
          <p:cNvPr id="100023" name="F6"/>
          <p:cNvSpPr txBox="1"/>
          <p:nvPr/>
        </p:nvSpPr>
        <p:spPr>
          <a:xfrm xmlns:a="http://schemas.openxmlformats.org/drawingml/2006/main">
            <a:off x="6120000" y="3816000"/>
            <a:ext cx="50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Dietary Restriction Support</a:t>
            </a:r>
          </a:p>
          <a:p xmlns:a="http://schemas.openxmlformats.org/drawingml/2006/main">
            <a:r>
              <a:rPr lang="en-US" sz="1600">
                <a:solidFill>
                  <a:srgbClr val="1F2328"/>
                </a:solidFill>
                <a:latin typeface="Calibri"/>
                <a:ea typeface="Calibri"/>
              </a:rPr>
              <a:t>Vegan, vegetarian, gluten-free, diabetic, and keto diets fully supported.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4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25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26" name="UserBox"/>
          <p:cNvSpPr txBox="1"/>
          <p:nvPr/>
        </p:nvSpPr>
        <p:spPr>
          <a:xfrm xmlns:a="http://schemas.openxmlformats.org/drawingml/2006/main">
            <a:off x="360000" y="2520000"/>
            <a:ext cx="1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USER</a:t>
            </a:r>
          </a:p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(Browser / CLI)</a:t>
            </a:r>
          </a:p>
        </p:txBody>
      </p:sp>
      <p:sp>
        <p:nvSpPr>
          <p:cNvPr id="100027" name="Arrow1"/>
          <p:cNvSpPr txBox="1"/>
          <p:nvPr/>
        </p:nvSpPr>
        <p:spPr>
          <a:xfrm xmlns:a="http://schemas.openxmlformats.org/drawingml/2006/main">
            <a:off x="2232000" y="28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0A3D62"/>
                </a:solidFill>
                <a:latin typeface="Calibri"/>
                <a:ea typeface="Calibri"/>
              </a:rPr>
              <a:t>Query</a:t>
            </a:r>
          </a:p>
        </p:txBody>
      </p:sp>
      <p:sp>
        <p:nvSpPr>
          <p:cNvPr id="100028" name="StreamlitBox"/>
          <p:cNvSpPr txBox="1"/>
          <p:nvPr/>
        </p:nvSpPr>
        <p:spPr>
          <a:xfrm xmlns:a="http://schemas.openxmlformats.org/drawingml/2006/main">
            <a:off x="3420000" y="2340000"/>
            <a:ext cx="1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98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STREAMLIT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Web UI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(app.py)</a:t>
            </a:r>
          </a:p>
        </p:txBody>
      </p:sp>
      <p:sp>
        <p:nvSpPr>
          <p:cNvPr id="100029" name="Arrow2"/>
          <p:cNvSpPr txBox="1"/>
          <p:nvPr/>
        </p:nvSpPr>
        <p:spPr>
          <a:xfrm xmlns:a="http://schemas.openxmlformats.org/drawingml/2006/main">
            <a:off x="5292000" y="28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0A3D62"/>
                </a:solidFill>
                <a:latin typeface="Calibri"/>
                <a:ea typeface="Calibri"/>
              </a:rPr>
              <a:t>Request</a:t>
            </a:r>
          </a:p>
        </p:txBody>
      </p:sp>
      <p:sp>
        <p:nvSpPr>
          <p:cNvPr id="100030" name="AgentBox"/>
          <p:cNvSpPr txBox="1"/>
          <p:nvPr/>
        </p:nvSpPr>
        <p:spPr>
          <a:xfrm xmlns:a="http://schemas.openxmlformats.org/drawingml/2006/main">
            <a:off x="6480000" y="2340000"/>
            <a:ext cx="1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IBM BOB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AGENT CORE</a:t>
            </a:r>
          </a:p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(agent.py)</a:t>
            </a:r>
          </a:p>
        </p:txBody>
      </p:sp>
      <p:sp>
        <p:nvSpPr>
          <p:cNvPr id="100031" name="Arrow3"/>
          <p:cNvSpPr txBox="1"/>
          <p:nvPr/>
        </p:nvSpPr>
        <p:spPr>
          <a:xfrm xmlns:a="http://schemas.openxmlformats.org/drawingml/2006/main">
            <a:off x="8352000" y="2808000"/>
            <a:ext cx="10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0A3D62"/>
                </a:solidFill>
                <a:latin typeface="Calibri"/>
                <a:ea typeface="Calibri"/>
              </a:rPr>
              <a:t>Tool Call</a:t>
            </a:r>
          </a:p>
        </p:txBody>
      </p:sp>
      <p:sp>
        <p:nvSpPr>
          <p:cNvPr id="100032" name="ToolsBox"/>
          <p:cNvSpPr txBox="1"/>
          <p:nvPr/>
        </p:nvSpPr>
        <p:spPr>
          <a:xfrm xmlns:a="http://schemas.openxmlformats.org/drawingml/2006/main">
            <a:off x="9540000" y="2340000"/>
            <a:ext cx="198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TOOLS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nutrition_lookup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meal_planner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calorie_calc</a:t>
            </a:r>
          </a:p>
        </p:txBody>
      </p:sp>
      <p:sp>
        <p:nvSpPr>
          <p:cNvPr id="100033" name="WatsonXBox"/>
          <p:cNvSpPr txBox="1"/>
          <p:nvPr/>
        </p:nvSpPr>
        <p:spPr>
          <a:xfrm xmlns:a="http://schemas.openxmlformats.org/drawingml/2006/main">
            <a:off x="3420000" y="4320000"/>
            <a:ext cx="57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IBM WATSONX AI</a:t>
            </a:r>
          </a:p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llama-3-70b-instruct</a:t>
            </a:r>
          </a:p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granite-13b-chat-v2</a:t>
            </a:r>
          </a:p>
        </p:txBody>
      </p:sp>
      <p:sp>
        <p:nvSpPr>
          <p:cNvPr id="100034" name="Arrow4"/>
          <p:cNvSpPr txBox="1"/>
          <p:nvPr/>
        </p:nvSpPr>
        <p:spPr>
          <a:xfrm xmlns:a="http://schemas.openxmlformats.org/drawingml/2006/main">
            <a:off x="6480000" y="3708000"/>
            <a:ext cx="1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0A3D62"/>
                </a:solidFill>
                <a:latin typeface="Calibri"/>
                <a:ea typeface="Calibri"/>
              </a:rPr>
              <a:t>LLM Inference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36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Technology Stack</a:t>
            </a:r>
          </a:p>
        </p:txBody>
      </p:sp>
      <p:sp>
        <p:nvSpPr>
          <p:cNvPr id="100037" name="ColHeader1"/>
          <p:cNvSpPr txBox="1"/>
          <p:nvPr/>
        </p:nvSpPr>
        <p:spPr>
          <a:xfrm xmlns:a="http://schemas.openxmlformats.org/drawingml/2006/main">
            <a:off x="540000" y="648000"/>
            <a:ext cx="252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Category</a:t>
            </a:r>
          </a:p>
        </p:txBody>
      </p:sp>
      <p:sp>
        <p:nvSpPr>
          <p:cNvPr id="100038" name="ColHeader2"/>
          <p:cNvSpPr txBox="1"/>
          <p:nvPr/>
        </p:nvSpPr>
        <p:spPr>
          <a:xfrm xmlns:a="http://schemas.openxmlformats.org/drawingml/2006/main">
            <a:off x="3240000" y="648000"/>
            <a:ext cx="32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Technology</a:t>
            </a:r>
          </a:p>
        </p:txBody>
      </p:sp>
      <p:sp>
        <p:nvSpPr>
          <p:cNvPr id="100039" name="ColHeader3"/>
          <p:cNvSpPr txBox="1"/>
          <p:nvPr/>
        </p:nvSpPr>
        <p:spPr>
          <a:xfrm xmlns:a="http://schemas.openxmlformats.org/drawingml/2006/main">
            <a:off x="6660000" y="648000"/>
            <a:ext cx="46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Purpose</a:t>
            </a:r>
          </a:p>
        </p:txBody>
      </p:sp>
      <p:sp>
        <p:nvSpPr>
          <p:cNvPr id="100040" name="R1C1"/>
          <p:cNvSpPr txBox="1"/>
          <p:nvPr/>
        </p:nvSpPr>
        <p:spPr>
          <a:xfrm xmlns:a="http://schemas.openxmlformats.org/drawingml/2006/main">
            <a:off x="540000" y="1008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AI Platform</a:t>
            </a:r>
          </a:p>
        </p:txBody>
      </p:sp>
      <p:sp>
        <p:nvSpPr>
          <p:cNvPr id="100041" name="R1C2"/>
          <p:cNvSpPr txBox="1"/>
          <p:nvPr/>
        </p:nvSpPr>
        <p:spPr>
          <a:xfrm xmlns:a="http://schemas.openxmlformats.org/drawingml/2006/main">
            <a:off x="3240000" y="1008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IBM WatsonX AI</a:t>
            </a:r>
          </a:p>
        </p:txBody>
      </p:sp>
      <p:sp>
        <p:nvSpPr>
          <p:cNvPr id="100042" name="R1C3"/>
          <p:cNvSpPr txBox="1"/>
          <p:nvPr/>
        </p:nvSpPr>
        <p:spPr>
          <a:xfrm xmlns:a="http://schemas.openxmlformats.org/drawingml/2006/main">
            <a:off x="6660000" y="1008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LLM Inference &amp; AI Backbone</a:t>
            </a:r>
          </a:p>
        </p:txBody>
      </p:sp>
      <p:sp>
        <p:nvSpPr>
          <p:cNvPr id="100043" name="R2C1"/>
          <p:cNvSpPr txBox="1"/>
          <p:nvPr/>
        </p:nvSpPr>
        <p:spPr>
          <a:xfrm xmlns:a="http://schemas.openxmlformats.org/drawingml/2006/main">
            <a:off x="540000" y="1476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Agent Framework</a:t>
            </a:r>
          </a:p>
        </p:txBody>
      </p:sp>
      <p:sp>
        <p:nvSpPr>
          <p:cNvPr id="100044" name="R2C2"/>
          <p:cNvSpPr txBox="1"/>
          <p:nvPr/>
        </p:nvSpPr>
        <p:spPr>
          <a:xfrm xmlns:a="http://schemas.openxmlformats.org/drawingml/2006/main">
            <a:off x="3240000" y="1476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IBM Bob / LangChain-IBM</a:t>
            </a:r>
          </a:p>
        </p:txBody>
      </p:sp>
      <p:sp>
        <p:nvSpPr>
          <p:cNvPr id="100045" name="R2C3"/>
          <p:cNvSpPr txBox="1"/>
          <p:nvPr/>
        </p:nvSpPr>
        <p:spPr>
          <a:xfrm xmlns:a="http://schemas.openxmlformats.org/drawingml/2006/main">
            <a:off x="6660000" y="1476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Tool orchestration &amp; agent loop</a:t>
            </a:r>
          </a:p>
        </p:txBody>
      </p:sp>
      <p:sp>
        <p:nvSpPr>
          <p:cNvPr id="100046" name="R3C1"/>
          <p:cNvSpPr txBox="1"/>
          <p:nvPr/>
        </p:nvSpPr>
        <p:spPr>
          <a:xfrm xmlns:a="http://schemas.openxmlformats.org/drawingml/2006/main">
            <a:off x="540000" y="1944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Language</a:t>
            </a:r>
          </a:p>
        </p:txBody>
      </p:sp>
      <p:sp>
        <p:nvSpPr>
          <p:cNvPr id="100047" name="R3C2"/>
          <p:cNvSpPr txBox="1"/>
          <p:nvPr/>
        </p:nvSpPr>
        <p:spPr>
          <a:xfrm xmlns:a="http://schemas.openxmlformats.org/drawingml/2006/main">
            <a:off x="3240000" y="1944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Python 3.9+</a:t>
            </a:r>
          </a:p>
        </p:txBody>
      </p:sp>
      <p:sp>
        <p:nvSpPr>
          <p:cNvPr id="100048" name="R3C3"/>
          <p:cNvSpPr txBox="1"/>
          <p:nvPr/>
        </p:nvSpPr>
        <p:spPr>
          <a:xfrm xmlns:a="http://schemas.openxmlformats.org/drawingml/2006/main">
            <a:off x="6660000" y="1944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Core programming language</a:t>
            </a:r>
          </a:p>
        </p:txBody>
      </p:sp>
      <p:sp>
        <p:nvSpPr>
          <p:cNvPr id="100049" name="R4C1"/>
          <p:cNvSpPr txBox="1"/>
          <p:nvPr/>
        </p:nvSpPr>
        <p:spPr>
          <a:xfrm xmlns:a="http://schemas.openxmlformats.org/drawingml/2006/main">
            <a:off x="540000" y="2412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Web UI</a:t>
            </a:r>
          </a:p>
        </p:txBody>
      </p:sp>
      <p:sp>
        <p:nvSpPr>
          <p:cNvPr id="100050" name="R4C2"/>
          <p:cNvSpPr txBox="1"/>
          <p:nvPr/>
        </p:nvSpPr>
        <p:spPr>
          <a:xfrm xmlns:a="http://schemas.openxmlformats.org/drawingml/2006/main">
            <a:off x="3240000" y="2412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Streamlit 1.35+</a:t>
            </a:r>
          </a:p>
        </p:txBody>
      </p:sp>
      <p:sp>
        <p:nvSpPr>
          <p:cNvPr id="100051" name="R4C3"/>
          <p:cNvSpPr txBox="1"/>
          <p:nvPr/>
        </p:nvSpPr>
        <p:spPr>
          <a:xfrm xmlns:a="http://schemas.openxmlformats.org/drawingml/2006/main">
            <a:off x="6660000" y="2412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Interactive chat web interface</a:t>
            </a:r>
          </a:p>
        </p:txBody>
      </p:sp>
      <p:sp>
        <p:nvSpPr>
          <p:cNvPr id="100052" name="R5C1"/>
          <p:cNvSpPr txBox="1"/>
          <p:nvPr/>
        </p:nvSpPr>
        <p:spPr>
          <a:xfrm xmlns:a="http://schemas.openxmlformats.org/drawingml/2006/main">
            <a:off x="540000" y="2880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Data Layer</a:t>
            </a:r>
          </a:p>
        </p:txBody>
      </p:sp>
      <p:sp>
        <p:nvSpPr>
          <p:cNvPr id="100053" name="R5C2"/>
          <p:cNvSpPr txBox="1"/>
          <p:nvPr/>
        </p:nvSpPr>
        <p:spPr>
          <a:xfrm xmlns:a="http://schemas.openxmlformats.org/drawingml/2006/main">
            <a:off x="3240000" y="2880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Pandas / NumPy</a:t>
            </a:r>
          </a:p>
        </p:txBody>
      </p:sp>
      <p:sp>
        <p:nvSpPr>
          <p:cNvPr id="100054" name="R5C3"/>
          <p:cNvSpPr txBox="1"/>
          <p:nvPr/>
        </p:nvSpPr>
        <p:spPr>
          <a:xfrm xmlns:a="http://schemas.openxmlformats.org/drawingml/2006/main">
            <a:off x="6660000" y="2880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Nutrition data processing</a:t>
            </a:r>
          </a:p>
        </p:txBody>
      </p:sp>
      <p:sp>
        <p:nvSpPr>
          <p:cNvPr id="100055" name="R6C1"/>
          <p:cNvSpPr txBox="1"/>
          <p:nvPr/>
        </p:nvSpPr>
        <p:spPr>
          <a:xfrm xmlns:a="http://schemas.openxmlformats.org/drawingml/2006/main">
            <a:off x="540000" y="3348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Validation</a:t>
            </a:r>
          </a:p>
        </p:txBody>
      </p:sp>
      <p:sp>
        <p:nvSpPr>
          <p:cNvPr id="100056" name="R6C2"/>
          <p:cNvSpPr txBox="1"/>
          <p:nvPr/>
        </p:nvSpPr>
        <p:spPr>
          <a:xfrm xmlns:a="http://schemas.openxmlformats.org/drawingml/2006/main">
            <a:off x="3240000" y="3348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Pydantic 2.x</a:t>
            </a:r>
          </a:p>
        </p:txBody>
      </p:sp>
      <p:sp>
        <p:nvSpPr>
          <p:cNvPr id="100057" name="R6C3"/>
          <p:cNvSpPr txBox="1"/>
          <p:nvPr/>
        </p:nvSpPr>
        <p:spPr>
          <a:xfrm xmlns:a="http://schemas.openxmlformats.org/drawingml/2006/main">
            <a:off x="6660000" y="3348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Input/output schema validation</a:t>
            </a:r>
          </a:p>
        </p:txBody>
      </p:sp>
      <p:sp>
        <p:nvSpPr>
          <p:cNvPr id="100058" name="R7C1"/>
          <p:cNvSpPr txBox="1"/>
          <p:nvPr/>
        </p:nvSpPr>
        <p:spPr>
          <a:xfrm xmlns:a="http://schemas.openxmlformats.org/drawingml/2006/main">
            <a:off x="540000" y="3816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Config</a:t>
            </a:r>
          </a:p>
        </p:txBody>
      </p:sp>
      <p:sp>
        <p:nvSpPr>
          <p:cNvPr id="100059" name="R7C2"/>
          <p:cNvSpPr txBox="1"/>
          <p:nvPr/>
        </p:nvSpPr>
        <p:spPr>
          <a:xfrm xmlns:a="http://schemas.openxmlformats.org/drawingml/2006/main">
            <a:off x="3240000" y="3816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PyYAML + python-dotenv</a:t>
            </a:r>
          </a:p>
        </p:txBody>
      </p:sp>
      <p:sp>
        <p:nvSpPr>
          <p:cNvPr id="100060" name="R7C3"/>
          <p:cNvSpPr txBox="1"/>
          <p:nvPr/>
        </p:nvSpPr>
        <p:spPr>
          <a:xfrm xmlns:a="http://schemas.openxmlformats.org/drawingml/2006/main">
            <a:off x="6660000" y="3816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Env vars &amp; YAML config management</a:t>
            </a:r>
          </a:p>
        </p:txBody>
      </p:sp>
      <p:sp>
        <p:nvSpPr>
          <p:cNvPr id="100061" name="R8C1"/>
          <p:cNvSpPr txBox="1"/>
          <p:nvPr/>
        </p:nvSpPr>
        <p:spPr>
          <a:xfrm xmlns:a="http://schemas.openxmlformats.org/drawingml/2006/main">
            <a:off x="540000" y="4284000"/>
            <a:ext cx="25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Testing</a:t>
            </a:r>
          </a:p>
        </p:txBody>
      </p:sp>
      <p:sp>
        <p:nvSpPr>
          <p:cNvPr id="100062" name="R8C2"/>
          <p:cNvSpPr txBox="1"/>
          <p:nvPr/>
        </p:nvSpPr>
        <p:spPr>
          <a:xfrm xmlns:a="http://schemas.openxmlformats.org/drawingml/2006/main">
            <a:off x="3240000" y="4284000"/>
            <a:ext cx="32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pytest + pytest-asyncio</a:t>
            </a:r>
          </a:p>
        </p:txBody>
      </p:sp>
      <p:sp>
        <p:nvSpPr>
          <p:cNvPr id="100063" name="R8C3"/>
          <p:cNvSpPr txBox="1"/>
          <p:nvPr/>
        </p:nvSpPr>
        <p:spPr>
          <a:xfrm xmlns:a="http://schemas.openxmlformats.org/drawingml/2006/main">
            <a:off x="6660000" y="4284000"/>
            <a:ext cx="46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Unit and async agent testing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4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65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Project Structure</a:t>
            </a:r>
          </a:p>
        </p:txBody>
      </p:sp>
      <p:sp>
        <p:nvSpPr>
          <p:cNvPr id="100066" name="TreeBox"/>
          <p:cNvSpPr txBox="1"/>
          <p:nvPr/>
        </p:nvSpPr>
        <p:spPr>
          <a:xfrm xmlns:a="http://schemas.openxmlformats.org/drawingml/2006/main">
            <a:off x="540000" y="648000"/>
            <a:ext cx="1080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NutritionAgent-IBMBob/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agent.py               IBM Bob agent — tools, prompts, model config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app.py                 Streamlit web UI entry point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requirements.txt       All Python package dependencies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.env.example           Environment variable template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.gitignore             Git exclusions (venv, .env, __pycache__)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README.md              Full project documentation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tools/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    +-- nutrition_lookup.py      Food &amp; nutrient search tool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    +-- meal_planner.py          Weekly meal plan generator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    +-- calorie_calculator.py    BMR/TDEE calorie calculator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prompts/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    +-- system_prompt.txt        Agent system prompt &amp; instructions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+-- config/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ourier New"/>
                <a:ea typeface="Courier New"/>
              </a:rPr>
              <a:t>     +-- config.yaml              Model ID, parameters, tool settings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7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68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Installation &amp; Setup</a:t>
            </a:r>
          </a:p>
        </p:txBody>
      </p:sp>
      <p:sp>
        <p:nvSpPr>
          <p:cNvPr id="100069" name="Step1Label"/>
          <p:cNvSpPr txBox="1"/>
          <p:nvPr/>
        </p:nvSpPr>
        <p:spPr>
          <a:xfrm xmlns:a="http://schemas.openxmlformats.org/drawingml/2006/main">
            <a:off x="540000" y="64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STEP 1  —  Clone the Repository</a:t>
            </a:r>
          </a:p>
        </p:txBody>
      </p:sp>
      <p:sp>
        <p:nvSpPr>
          <p:cNvPr id="100070" name="Step1Code"/>
          <p:cNvSpPr txBox="1"/>
          <p:nvPr/>
        </p:nvSpPr>
        <p:spPr>
          <a:xfrm xmlns:a="http://schemas.openxmlformats.org/drawingml/2006/main">
            <a:off x="540000" y="936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git clone https://github.com/YogeshRaje/NutritionAgent-IBMBob.git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cd NutritionAgent-IBMBob</a:t>
            </a:r>
          </a:p>
        </p:txBody>
      </p:sp>
      <p:sp>
        <p:nvSpPr>
          <p:cNvPr id="100071" name="Step2Label"/>
          <p:cNvSpPr txBox="1"/>
          <p:nvPr/>
        </p:nvSpPr>
        <p:spPr>
          <a:xfrm xmlns:a="http://schemas.openxmlformats.org/drawingml/2006/main">
            <a:off x="540000" y="1584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STEP 2  —  Create Virtual Environment</a:t>
            </a:r>
          </a:p>
        </p:txBody>
      </p:sp>
      <p:sp>
        <p:nvSpPr>
          <p:cNvPr id="100072" name="Step2Code"/>
          <p:cNvSpPr txBox="1"/>
          <p:nvPr/>
        </p:nvSpPr>
        <p:spPr>
          <a:xfrm xmlns:a="http://schemas.openxmlformats.org/drawingml/2006/main">
            <a:off x="540000" y="1872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python -m venv venv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venv\Scripts\activate          # Windows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source venv/bin/activate       # macOS / Linux</a:t>
            </a:r>
          </a:p>
        </p:txBody>
      </p:sp>
      <p:sp>
        <p:nvSpPr>
          <p:cNvPr id="100073" name="Step3Label"/>
          <p:cNvSpPr txBox="1"/>
          <p:nvPr/>
        </p:nvSpPr>
        <p:spPr>
          <a:xfrm xmlns:a="http://schemas.openxmlformats.org/drawingml/2006/main">
            <a:off x="540000" y="270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STEP 3  —  Install Dependencies</a:t>
            </a:r>
          </a:p>
        </p:txBody>
      </p:sp>
      <p:sp>
        <p:nvSpPr>
          <p:cNvPr id="100074" name="Step3Code"/>
          <p:cNvSpPr txBox="1"/>
          <p:nvPr/>
        </p:nvSpPr>
        <p:spPr>
          <a:xfrm xmlns:a="http://schemas.openxmlformats.org/drawingml/2006/main">
            <a:off x="540000" y="2988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pip install -r requirements.txt</a:t>
            </a:r>
          </a:p>
        </p:txBody>
      </p:sp>
      <p:sp>
        <p:nvSpPr>
          <p:cNvPr id="100075" name="Step4Label"/>
          <p:cNvSpPr txBox="1"/>
          <p:nvPr/>
        </p:nvSpPr>
        <p:spPr>
          <a:xfrm xmlns:a="http://schemas.openxmlformats.org/drawingml/2006/main">
            <a:off x="540000" y="352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STEP 4  —  Run the Application</a:t>
            </a:r>
          </a:p>
        </p:txBody>
      </p:sp>
      <p:sp>
        <p:nvSpPr>
          <p:cNvPr id="100076" name="Step4Code"/>
          <p:cNvSpPr txBox="1"/>
          <p:nvPr/>
        </p:nvSpPr>
        <p:spPr>
          <a:xfrm xmlns:a="http://schemas.openxmlformats.org/drawingml/2006/main">
            <a:off x="540000" y="3816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streamlit run app.py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# Open http://localhost:8501 in your browser</a:t>
            </a:r>
          </a:p>
        </p:txBody>
      </p:sp>
      <p:sp>
        <p:nvSpPr>
          <p:cNvPr id="100077" name="Prereqs"/>
          <p:cNvSpPr txBox="1"/>
          <p:nvPr/>
        </p:nvSpPr>
        <p:spPr>
          <a:xfrm xmlns:a="http://schemas.openxmlformats.org/drawingml/2006/main">
            <a:off x="540000" y="619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7606A"/>
                </a:solidFill>
                <a:latin typeface="Calibri"/>
                <a:ea typeface="Calibri"/>
              </a:rPr>
              <a:t>Prerequisites: Python 3.9+   |   pip 23+   |   Git 2.x   |   IBM Cloud Account   |   WatsonX API Key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8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79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Configuration — IBM WatsonX Credentials</a:t>
            </a:r>
          </a:p>
        </p:txBody>
      </p:sp>
      <p:sp>
        <p:nvSpPr>
          <p:cNvPr id="100080" name="Step1Label"/>
          <p:cNvSpPr txBox="1"/>
          <p:nvPr/>
        </p:nvSpPr>
        <p:spPr>
          <a:xfrm xmlns:a="http://schemas.openxmlformats.org/drawingml/2006/main">
            <a:off x="540000" y="64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1.  Copy the environment template</a:t>
            </a:r>
          </a:p>
        </p:txBody>
      </p:sp>
      <p:sp>
        <p:nvSpPr>
          <p:cNvPr id="100081" name="Step1Code"/>
          <p:cNvSpPr txBox="1"/>
          <p:nvPr/>
        </p:nvSpPr>
        <p:spPr>
          <a:xfrm xmlns:a="http://schemas.openxmlformats.org/drawingml/2006/main">
            <a:off x="540000" y="936000"/>
            <a:ext cx="72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cp .env.example .env</a:t>
            </a:r>
          </a:p>
        </p:txBody>
      </p:sp>
      <p:sp>
        <p:nvSpPr>
          <p:cNvPr id="100082" name="Step2Label"/>
          <p:cNvSpPr txBox="1"/>
          <p:nvPr/>
        </p:nvSpPr>
        <p:spPr>
          <a:xfrm xmlns:a="http://schemas.openxmlformats.org/drawingml/2006/main">
            <a:off x="540000" y="144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2.  Edit .env with your IBM WatsonX credentials</a:t>
            </a:r>
          </a:p>
        </p:txBody>
      </p:sp>
      <p:sp>
        <p:nvSpPr>
          <p:cNvPr id="100083" name="Step2Code"/>
          <p:cNvSpPr txBox="1"/>
          <p:nvPr/>
        </p:nvSpPr>
        <p:spPr>
          <a:xfrm xmlns:a="http://schemas.openxmlformats.org/drawingml/2006/main">
            <a:off x="540000" y="1728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WATSONX_API_KEY=your_ibm_watsonx_api_key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WATSONX_PROJECT_ID=your_project_id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WATSONX_URL=https://us-south.ml.cloud.ibm.com</a:t>
            </a:r>
          </a:p>
        </p:txBody>
      </p:sp>
      <p:sp>
        <p:nvSpPr>
          <p:cNvPr id="100084" name="WhereLabel"/>
          <p:cNvSpPr txBox="1"/>
          <p:nvPr/>
        </p:nvSpPr>
        <p:spPr>
          <a:xfrm xmlns:a="http://schemas.openxmlformats.org/drawingml/2006/main">
            <a:off x="540000" y="288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Where to get your credentials</a:t>
            </a:r>
          </a:p>
        </p:txBody>
      </p:sp>
      <p:sp>
        <p:nvSpPr>
          <p:cNvPr id="100085" name="CredBox1"/>
          <p:cNvSpPr txBox="1"/>
          <p:nvPr/>
        </p:nvSpPr>
        <p:spPr>
          <a:xfrm xmlns:a="http://schemas.openxmlformats.org/drawingml/2006/main">
            <a:off x="540000" y="3240000"/>
            <a:ext cx="48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API Key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Visit: cloud.ibm.com/iam/apikeys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Click 'Create' and copy the key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into WATSONX_API_KEY</a:t>
            </a:r>
          </a:p>
        </p:txBody>
      </p:sp>
      <p:sp>
        <p:nvSpPr>
          <p:cNvPr id="100086" name="CredBox2"/>
          <p:cNvSpPr txBox="1"/>
          <p:nvPr/>
        </p:nvSpPr>
        <p:spPr>
          <a:xfrm xmlns:a="http://schemas.openxmlformats.org/drawingml/2006/main">
            <a:off x="6120000" y="3240000"/>
            <a:ext cx="48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Project ID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Visit: dataplatform.cloud.ibm.com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Open your WatsonX project</a:t>
            </a:r>
          </a:p>
          <a:p xmlns:a="http://schemas.openxmlformats.org/drawingml/2006/main">
            <a:r>
              <a:rPr lang="en-US" sz="1500">
                <a:solidFill>
                  <a:srgbClr val="1F2328"/>
                </a:solidFill>
                <a:latin typeface="Calibri"/>
                <a:ea typeface="Calibri"/>
              </a:rPr>
              <a:t>Copy the Project ID value</a:t>
            </a:r>
          </a:p>
        </p:txBody>
      </p:sp>
      <p:sp>
        <p:nvSpPr>
          <p:cNvPr id="100087" name="SecurityNote"/>
          <p:cNvSpPr txBox="1"/>
          <p:nvPr/>
        </p:nvSpPr>
        <p:spPr>
          <a:xfrm xmlns:a="http://schemas.openxmlformats.org/drawingml/2006/main">
            <a:off x="540000" y="504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74C3C"/>
                </a:solidFill>
                <a:latin typeface="Calibri"/>
                <a:ea typeface="Calibri"/>
              </a:rPr>
              <a:t>Security: .gitignore already excludes .env from git. Never commit your credentials to GitHub.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8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089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Application Demo — Screenshots</a:t>
            </a:r>
          </a:p>
        </p:txBody>
      </p:sp>
      <p:sp>
        <p:nvSpPr>
          <p:cNvPr id="100090" name="Screen1Border"/>
          <p:cNvSpPr txBox="1"/>
          <p:nvPr/>
        </p:nvSpPr>
        <p:spPr>
          <a:xfrm xmlns:a="http://schemas.openxmlformats.org/drawingml/2006/main">
            <a:off x="360000" y="648000"/>
            <a:ext cx="54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F2328"/>
              </a:solidFill>
            </a:endParaRPr>
          </a:p>
        </p:txBody>
      </p:sp>
      <p:sp>
        <p:nvSpPr>
          <p:cNvPr id="100091" name="Screen1Bar"/>
          <p:cNvSpPr txBox="1"/>
          <p:nvPr/>
        </p:nvSpPr>
        <p:spPr>
          <a:xfrm xmlns:a="http://schemas.openxmlformats.org/drawingml/2006/main">
            <a:off x="360000" y="648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CCCCCC"/>
                </a:solidFill>
                <a:latin typeface="Calibri"/>
                <a:ea typeface="Calibri"/>
              </a:rPr>
              <a:t>  NutritionAgent  x</a:t>
            </a:r>
          </a:p>
        </p:txBody>
      </p:sp>
      <p:sp>
        <p:nvSpPr>
          <p:cNvPr id="100092" name="Screen1Chat"/>
          <p:cNvSpPr txBox="1"/>
          <p:nvPr/>
        </p:nvSpPr>
        <p:spPr>
          <a:xfrm xmlns:a="http://schemas.openxmlformats.org/drawingml/2006/main">
            <a:off x="432000" y="900000"/>
            <a:ext cx="5256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You: What are macros in 100g of chicken breast?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Agent: Here are the macros for 100g of cooked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chicken breast: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Calories:    165 kcal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Protein:     31g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Carbs:       0g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Fat:         3.6g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Fiber:       0g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Would you like a meal plan using chicken?</a:t>
            </a:r>
          </a:p>
        </p:txBody>
      </p:sp>
      <p:sp>
        <p:nvSpPr>
          <p:cNvPr id="100093" name="Screen1Label"/>
          <p:cNvSpPr txBox="1"/>
          <p:nvPr/>
        </p:nvSpPr>
        <p:spPr>
          <a:xfrm xmlns:a="http://schemas.openxmlformats.org/drawingml/2006/main">
            <a:off x="360000" y="3240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3D62"/>
                </a:solidFill>
                <a:latin typeface="Calibri"/>
                <a:ea typeface="Calibri"/>
              </a:rPr>
              <a:t>Nutrition Lookup — Food Macro Query</a:t>
            </a:r>
          </a:p>
        </p:txBody>
      </p:sp>
      <p:sp>
        <p:nvSpPr>
          <p:cNvPr id="100094" name="Screen2Border"/>
          <p:cNvSpPr txBox="1"/>
          <p:nvPr/>
        </p:nvSpPr>
        <p:spPr>
          <a:xfrm xmlns:a="http://schemas.openxmlformats.org/drawingml/2006/main">
            <a:off x="6300000" y="648000"/>
            <a:ext cx="54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F2328"/>
              </a:solidFill>
            </a:endParaRPr>
          </a:p>
        </p:txBody>
      </p:sp>
      <p:sp>
        <p:nvSpPr>
          <p:cNvPr id="100095" name="Screen2Bar"/>
          <p:cNvSpPr txBox="1"/>
          <p:nvPr/>
        </p:nvSpPr>
        <p:spPr>
          <a:xfrm xmlns:a="http://schemas.openxmlformats.org/drawingml/2006/main">
            <a:off x="6300000" y="648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E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CCCCCC"/>
                </a:solidFill>
                <a:latin typeface="Calibri"/>
                <a:ea typeface="Calibri"/>
              </a:rPr>
              <a:t>  NutritionAgent  x</a:t>
            </a:r>
          </a:p>
        </p:txBody>
      </p:sp>
      <p:sp>
        <p:nvSpPr>
          <p:cNvPr id="100096" name="Screen2Chat"/>
          <p:cNvSpPr txBox="1"/>
          <p:nvPr/>
        </p:nvSpPr>
        <p:spPr>
          <a:xfrm xmlns:a="http://schemas.openxmlformats.org/drawingml/2006/main">
            <a:off x="6372000" y="900000"/>
            <a:ext cx="5256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You: Plan a 1800 cal vegetarian diet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for one week.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Agent: Here is your 7-day vegetarian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1800 kcal meal plan: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Monday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Breakfast: Oats + banana (350 kcal)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Lunch: Lentil soup + whole grain (520 kcal)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Dinner: Paneer stir-fry + rice (580 kcal)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Snack: Greek yogurt + nuts (350 kcal)</a:t>
            </a:r>
          </a:p>
        </p:txBody>
      </p:sp>
      <p:sp>
        <p:nvSpPr>
          <p:cNvPr id="100097" name="Screen2Label"/>
          <p:cNvSpPr txBox="1"/>
          <p:nvPr/>
        </p:nvSpPr>
        <p:spPr>
          <a:xfrm xmlns:a="http://schemas.openxmlformats.org/drawingml/2006/main">
            <a:off x="6300000" y="3240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3D62"/>
                </a:solidFill>
                <a:latin typeface="Calibri"/>
                <a:ea typeface="Calibri"/>
              </a:rPr>
              <a:t>Meal Planner — 7-Day Vegetarian Plan</a:t>
            </a:r>
          </a:p>
        </p:txBody>
      </p:sp>
      <p:sp>
        <p:nvSpPr>
          <p:cNvPr id="100098" name="Screen3Border"/>
          <p:cNvSpPr txBox="1"/>
          <p:nvPr/>
        </p:nvSpPr>
        <p:spPr>
          <a:xfrm xmlns:a="http://schemas.openxmlformats.org/drawingml/2006/main">
            <a:off x="360000" y="3780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F2328"/>
              </a:solidFill>
            </a:endParaRPr>
          </a:p>
        </p:txBody>
      </p:sp>
      <p:sp>
        <p:nvSpPr>
          <p:cNvPr id="100099" name="Screen3Chat"/>
          <p:cNvSpPr txBox="1"/>
          <p:nvPr/>
        </p:nvSpPr>
        <p:spPr>
          <a:xfrm xmlns:a="http://schemas.openxmlformats.org/drawingml/2006/main">
            <a:off x="432000" y="4032000"/>
            <a:ext cx="525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You: How many calories do I need?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I am 70kg, 175cm, moderately active.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Agent: Your daily caloric needs: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BMR (Basal):  1680 kcal/day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TDEE (Active): 2604 kcal/day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For weight loss:  2104 kcal (-500)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For maintenance: 2604 kcal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For weight gain:  3104 kcal (+500)</a:t>
            </a:r>
          </a:p>
        </p:txBody>
      </p:sp>
      <p:sp>
        <p:nvSpPr>
          <p:cNvPr id="100100" name="Screen3Label"/>
          <p:cNvSpPr txBox="1"/>
          <p:nvPr/>
        </p:nvSpPr>
        <p:spPr>
          <a:xfrm xmlns:a="http://schemas.openxmlformats.org/drawingml/2006/main">
            <a:off x="360000" y="6192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3D62"/>
                </a:solidFill>
                <a:latin typeface="Calibri"/>
                <a:ea typeface="Calibri"/>
              </a:rPr>
              <a:t>Calorie Calculator — BMR &amp; TDEE</a:t>
            </a:r>
          </a:p>
        </p:txBody>
      </p:sp>
      <p:sp>
        <p:nvSpPr>
          <p:cNvPr id="100101" name="Screen4Border"/>
          <p:cNvSpPr txBox="1"/>
          <p:nvPr/>
        </p:nvSpPr>
        <p:spPr>
          <a:xfrm xmlns:a="http://schemas.openxmlformats.org/drawingml/2006/main">
            <a:off x="6300000" y="3780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F2328"/>
              </a:solidFill>
            </a:endParaRPr>
          </a:p>
        </p:txBody>
      </p:sp>
      <p:sp>
        <p:nvSpPr>
          <p:cNvPr id="100102" name="Screen4Chat"/>
          <p:cNvSpPr txBox="1"/>
          <p:nvPr/>
        </p:nvSpPr>
        <p:spPr>
          <a:xfrm xmlns:a="http://schemas.openxmlformats.org/drawingml/2006/main">
            <a:off x="6372000" y="4032000"/>
            <a:ext cx="5256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You: I am diabetic. What should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I eat for breakfast?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Agent: For diabetic-friendly breakfast: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- Steel-cut oats with berries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  (low GI, high fiber)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- Eggs with avocado on rye toast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- Greek yogurt with chia seeds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Avoid: white bread, sugary cereals,</a:t>
            </a:r>
          </a:p>
          <a:p xmlns:a="http://schemas.openxmlformats.org/drawingml/2006/main">
            <a:r>
              <a:rPr lang="en-US" sz="1200">
                <a:solidFill>
                  <a:srgbClr val="A8D8EA"/>
                </a:solidFill>
                <a:latin typeface="Courier New"/>
                <a:ea typeface="Courier New"/>
              </a:rPr>
              <a:t>  fruit juices, and pastries.</a:t>
            </a:r>
          </a:p>
        </p:txBody>
      </p:sp>
      <p:sp>
        <p:nvSpPr>
          <p:cNvPr id="100103" name="Screen4Label"/>
          <p:cNvSpPr txBox="1"/>
          <p:nvPr/>
        </p:nvSpPr>
        <p:spPr>
          <a:xfrm xmlns:a="http://schemas.openxmlformats.org/drawingml/2006/main">
            <a:off x="6300000" y="6192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3D62"/>
                </a:solidFill>
                <a:latin typeface="Calibri"/>
                <a:ea typeface="Calibri"/>
              </a:rPr>
              <a:t>Dietary Restriction — Diabetic Guidance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4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105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Sample Queries &amp; Agent Outputs</a:t>
            </a:r>
          </a:p>
        </p:txBody>
      </p:sp>
      <p:sp>
        <p:nvSpPr>
          <p:cNvPr id="100106" name="QHeader"/>
          <p:cNvSpPr txBox="1"/>
          <p:nvPr/>
        </p:nvSpPr>
        <p:spPr>
          <a:xfrm xmlns:a="http://schemas.openxmlformats.org/drawingml/2006/main">
            <a:off x="540000" y="648000"/>
            <a:ext cx="504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Query</a:t>
            </a:r>
          </a:p>
        </p:txBody>
      </p:sp>
      <p:sp>
        <p:nvSpPr>
          <p:cNvPr id="100107" name="AHeader"/>
          <p:cNvSpPr txBox="1"/>
          <p:nvPr/>
        </p:nvSpPr>
        <p:spPr>
          <a:xfrm xmlns:a="http://schemas.openxmlformats.org/drawingml/2006/main">
            <a:off x="5760000" y="648000"/>
            <a:ext cx="576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Agent Output Summary</a:t>
            </a:r>
          </a:p>
        </p:txBody>
      </p:sp>
      <p:sp>
        <p:nvSpPr>
          <p:cNvPr id="100108" name="Q1"/>
          <p:cNvSpPr txBox="1"/>
          <p:nvPr/>
        </p:nvSpPr>
        <p:spPr>
          <a:xfrm xmlns:a="http://schemas.openxmlformats.org/drawingml/2006/main">
            <a:off x="540000" y="1008000"/>
            <a:ext cx="50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What are the macros in 100g of chicken breast?</a:t>
            </a:r>
          </a:p>
        </p:txBody>
      </p:sp>
      <p:sp>
        <p:nvSpPr>
          <p:cNvPr id="100109" name="A1"/>
          <p:cNvSpPr txBox="1"/>
          <p:nvPr/>
        </p:nvSpPr>
        <p:spPr>
          <a:xfrm xmlns:a="http://schemas.openxmlformats.org/drawingml/2006/main">
            <a:off x="5760000" y="1008000"/>
            <a:ext cx="57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165 kcal | Protein: 31g | Carbs: 0g | Fat: 3.6g | Fiber: 0g</a:t>
            </a:r>
          </a:p>
        </p:txBody>
      </p:sp>
      <p:sp>
        <p:nvSpPr>
          <p:cNvPr id="100110" name="Q2"/>
          <p:cNvSpPr txBox="1"/>
          <p:nvPr/>
        </p:nvSpPr>
        <p:spPr>
          <a:xfrm xmlns:a="http://schemas.openxmlformats.org/drawingml/2006/main">
            <a:off x="540000" y="1620000"/>
            <a:ext cx="50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Plan a 1800 calorie vegetarian diet for one week.</a:t>
            </a:r>
          </a:p>
        </p:txBody>
      </p:sp>
      <p:sp>
        <p:nvSpPr>
          <p:cNvPr id="100111" name="A2"/>
          <p:cNvSpPr txBox="1"/>
          <p:nvPr/>
        </p:nvSpPr>
        <p:spPr>
          <a:xfrm xmlns:a="http://schemas.openxmlformats.org/drawingml/2006/main">
            <a:off x="5760000" y="1620000"/>
            <a:ext cx="57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7-day meal plan with breakfast, lunch, dinner &amp; snacks totalling ~1800 kcal/day</a:t>
            </a:r>
          </a:p>
        </p:txBody>
      </p:sp>
      <p:sp>
        <p:nvSpPr>
          <p:cNvPr id="100112" name="Q3"/>
          <p:cNvSpPr txBox="1"/>
          <p:nvPr/>
        </p:nvSpPr>
        <p:spPr>
          <a:xfrm xmlns:a="http://schemas.openxmlformats.org/drawingml/2006/main">
            <a:off x="540000" y="2232000"/>
            <a:ext cx="50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I'm diabetic — what should I eat for breakfast?</a:t>
            </a:r>
          </a:p>
        </p:txBody>
      </p:sp>
      <p:sp>
        <p:nvSpPr>
          <p:cNvPr id="100113" name="A3"/>
          <p:cNvSpPr txBox="1"/>
          <p:nvPr/>
        </p:nvSpPr>
        <p:spPr>
          <a:xfrm xmlns:a="http://schemas.openxmlformats.org/drawingml/2006/main">
            <a:off x="5760000" y="2232000"/>
            <a:ext cx="57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Low-GI options: steel-cut oats, eggs + avocado, Greek yogurt + chia. Avoid: white bread, sugary cereals, juices</a:t>
            </a:r>
          </a:p>
        </p:txBody>
      </p:sp>
      <p:sp>
        <p:nvSpPr>
          <p:cNvPr id="100114" name="Q4"/>
          <p:cNvSpPr txBox="1"/>
          <p:nvPr/>
        </p:nvSpPr>
        <p:spPr>
          <a:xfrm xmlns:a="http://schemas.openxmlformats.org/drawingml/2006/main">
            <a:off x="540000" y="2844000"/>
            <a:ext cx="50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How many calories do I need? 70kg, 175cm, moderately active.</a:t>
            </a:r>
          </a:p>
        </p:txBody>
      </p:sp>
      <p:sp>
        <p:nvSpPr>
          <p:cNvPr id="100115" name="A4"/>
          <p:cNvSpPr txBox="1"/>
          <p:nvPr/>
        </p:nvSpPr>
        <p:spPr>
          <a:xfrm xmlns:a="http://schemas.openxmlformats.org/drawingml/2006/main">
            <a:off x="5760000" y="2844000"/>
            <a:ext cx="57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BMR: 1680 kcal/day | TDEE: 2604 kcal/day | Loss: 2104 | Gain: 3104</a:t>
            </a:r>
          </a:p>
        </p:txBody>
      </p:sp>
      <p:sp>
        <p:nvSpPr>
          <p:cNvPr id="100116" name="Q5"/>
          <p:cNvSpPr txBox="1"/>
          <p:nvPr/>
        </p:nvSpPr>
        <p:spPr>
          <a:xfrm xmlns:a="http://schemas.openxmlformats.org/drawingml/2006/main">
            <a:off x="540000" y="3456000"/>
            <a:ext cx="50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Suggest a keto meal plan for weight loss.</a:t>
            </a:r>
          </a:p>
        </p:txBody>
      </p:sp>
      <p:sp>
        <p:nvSpPr>
          <p:cNvPr id="100117" name="A5"/>
          <p:cNvSpPr txBox="1"/>
          <p:nvPr/>
        </p:nvSpPr>
        <p:spPr>
          <a:xfrm xmlns:a="http://schemas.openxmlformats.org/drawingml/2006/main">
            <a:off x="5760000" y="3456000"/>
            <a:ext cx="57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High-fat, low-carb daily plan: eggs + bacon, avocado salad, salmon with greens, nuts &amp; cheese snacks</a:t>
            </a:r>
          </a:p>
        </p:txBody>
      </p:sp>
      <p:sp>
        <p:nvSpPr>
          <p:cNvPr id="100118" name="Q6"/>
          <p:cNvSpPr txBox="1"/>
          <p:nvPr/>
        </p:nvSpPr>
        <p:spPr>
          <a:xfrm xmlns:a="http://schemas.openxmlformats.org/drawingml/2006/main">
            <a:off x="540000" y="4068000"/>
            <a:ext cx="50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What foods are high in iron for a vegan?</a:t>
            </a:r>
          </a:p>
        </p:txBody>
      </p:sp>
      <p:sp>
        <p:nvSpPr>
          <p:cNvPr id="100119" name="A6"/>
          <p:cNvSpPr txBox="1"/>
          <p:nvPr/>
        </p:nvSpPr>
        <p:spPr>
          <a:xfrm xmlns:a="http://schemas.openxmlformats.org/drawingml/2006/main">
            <a:off x="5760000" y="4068000"/>
            <a:ext cx="576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Lentils, tofu, spinach, pumpkin seeds, fortified cereals, quinoa, tempeh — with Vitamin C to boost absorption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0" name="HeaderBar"/>
          <p:cNvSpPr txBox="1"/>
          <p:nvPr/>
        </p:nvSpPr>
        <p:spPr>
          <a:xfrm xmlns:a="http://schemas.openxmlformats.org/drawingml/2006/main">
            <a:off x="0" y="0"/>
            <a:ext cx="1219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D6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3D62"/>
              </a:solidFill>
            </a:endParaRPr>
          </a:p>
        </p:txBody>
      </p:sp>
      <p:sp>
        <p:nvSpPr>
          <p:cNvPr id="100121" name="SlideTitle"/>
          <p:cNvSpPr txBox="1"/>
          <p:nvPr/>
        </p:nvSpPr>
        <p:spPr>
          <a:xfrm xmlns:a="http://schemas.openxmlformats.org/drawingml/2006/main">
            <a:off x="540000" y="7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Deployment to GitHub</a:t>
            </a:r>
          </a:p>
        </p:txBody>
      </p:sp>
      <p:sp>
        <p:nvSpPr>
          <p:cNvPr id="100122" name="FilesLabel"/>
          <p:cNvSpPr txBox="1"/>
          <p:nvPr/>
        </p:nvSpPr>
        <p:spPr>
          <a:xfrm xmlns:a="http://schemas.openxmlformats.org/drawingml/2006/main">
            <a:off x="540000" y="648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Files Included in Repository</a:t>
            </a:r>
          </a:p>
        </p:txBody>
      </p:sp>
      <p:sp>
        <p:nvSpPr>
          <p:cNvPr id="100123" name="FileRow1"/>
          <p:cNvSpPr txBox="1"/>
          <p:nvPr/>
        </p:nvSpPr>
        <p:spPr>
          <a:xfrm xmlns:a="http://schemas.openxmlformats.org/drawingml/2006/main">
            <a:off x="540000" y="936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README.md        Full project documentation — overview, setup, usage, architecture</a:t>
            </a:r>
          </a:p>
        </p:txBody>
      </p:sp>
      <p:sp>
        <p:nvSpPr>
          <p:cNvPr id="100124" name="FileRow2"/>
          <p:cNvSpPr txBox="1"/>
          <p:nvPr/>
        </p:nvSpPr>
        <p:spPr>
          <a:xfrm xmlns:a="http://schemas.openxmlformats.org/drawingml/2006/main">
            <a:off x="540000" y="1296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.gitignore        Excludes venv/, .env, __pycache__, logs, IDE files, IBM credentials</a:t>
            </a:r>
          </a:p>
        </p:txBody>
      </p:sp>
      <p:sp>
        <p:nvSpPr>
          <p:cNvPr id="100125" name="FileRow3"/>
          <p:cNvSpPr txBox="1"/>
          <p:nvPr/>
        </p:nvSpPr>
        <p:spPr>
          <a:xfrm xmlns:a="http://schemas.openxmlformats.org/drawingml/2006/main">
            <a:off x="540000" y="1656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  <a:latin typeface="Calibri"/>
                <a:ea typeface="Calibri"/>
              </a:rPr>
              <a:t>requirements.txt  All Python dependencies: ibm-watsonx-ai, langchain-ibm, streamlit, pandas...</a:t>
            </a:r>
          </a:p>
        </p:txBody>
      </p:sp>
      <p:sp>
        <p:nvSpPr>
          <p:cNvPr id="100126" name="GitLabel"/>
          <p:cNvSpPr txBox="1"/>
          <p:nvPr/>
        </p:nvSpPr>
        <p:spPr>
          <a:xfrm xmlns:a="http://schemas.openxmlformats.org/drawingml/2006/main">
            <a:off x="540000" y="2160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Git Commands Used to Deploy</a:t>
            </a:r>
          </a:p>
        </p:txBody>
      </p:sp>
      <p:sp>
        <p:nvSpPr>
          <p:cNvPr id="100127" name="GitCode"/>
          <p:cNvSpPr txBox="1"/>
          <p:nvPr/>
        </p:nvSpPr>
        <p:spPr>
          <a:xfrm xmlns:a="http://schemas.openxmlformats.org/drawingml/2006/main">
            <a:off x="540000" y="2448000"/>
            <a:ext cx="10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git init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git remote add origin https://github.com/YogeshRaje/NutritionAgent-IBMBob.git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git add README.md .gitignore requirements.txt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git commit -m "Add README, .gitignore, and requirements.txt"</a:t>
            </a:r>
          </a:p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ourier New"/>
                <a:ea typeface="Courier New"/>
              </a:rPr>
              <a:t>git push -u origin main</a:t>
            </a:r>
          </a:p>
        </p:txBody>
      </p:sp>
      <p:sp>
        <p:nvSpPr>
          <p:cNvPr id="100128" name="RepoInfo"/>
          <p:cNvSpPr txBox="1"/>
          <p:nvPr/>
        </p:nvSpPr>
        <p:spPr>
          <a:xfrm xmlns:a="http://schemas.openxmlformats.org/drawingml/2006/main">
            <a:off x="540000" y="4140000"/>
            <a:ext cx="36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A3D62"/>
                </a:solidFill>
                <a:latin typeface="Calibri"/>
                <a:ea typeface="Calibri"/>
              </a:rPr>
              <a:t>Repository URL</a:t>
            </a:r>
          </a:p>
        </p:txBody>
      </p:sp>
      <p:sp>
        <p:nvSpPr>
          <p:cNvPr id="100129" name="RepoURL"/>
          <p:cNvSpPr txBox="1"/>
          <p:nvPr/>
        </p:nvSpPr>
        <p:spPr>
          <a:xfrm xmlns:a="http://schemas.openxmlformats.org/drawingml/2006/main">
            <a:off x="540000" y="4428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B82D4"/>
                </a:solidFill>
                <a:latin typeface="Calibri"/>
                <a:ea typeface="Calibri"/>
              </a:rPr>
              <a:t>https://github.com/YogeshRaje/NutritionAgent-IBMBob</a:t>
            </a:r>
          </a:p>
        </p:txBody>
      </p:sp>
      <p:sp>
        <p:nvSpPr>
          <p:cNvPr id="100130" name="BranchInfo"/>
          <p:cNvSpPr txBox="1"/>
          <p:nvPr/>
        </p:nvSpPr>
        <p:spPr>
          <a:xfrm xmlns:a="http://schemas.openxmlformats.org/drawingml/2006/main">
            <a:off x="540000" y="4968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57606A"/>
                </a:solidFill>
                <a:latin typeface="Calibri"/>
                <a:ea typeface="Calibri"/>
              </a:rPr>
              <a:t>Default Branch: main   |   Visibility: Public   |   License: MIT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3D62"/>
        </a:solidFill>
      </p:bgPr>
    </p:bg>
    <p:spTree>
      <p:nvGrpSpPr>
        <p:cNvPr id="1" name=""/>
        <p:cNvGrpSpPr/>
        <p:nvPr/>
      </p:nvGrpSpPr>
      <p:grpSpPr/>
      <p:sp>
        <p:nvSpPr>
          <p:cNvPr id="100131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BC9C"/>
              </a:solidFill>
            </a:endParaRPr>
          </a:p>
        </p:txBody>
      </p:sp>
      <p:sp>
        <p:nvSpPr>
          <p:cNvPr id="100132" name="MainTitle"/>
          <p:cNvSpPr txBox="1"/>
          <p:nvPr/>
        </p:nvSpPr>
        <p:spPr>
          <a:xfrm xmlns:a="http://schemas.openxmlformats.org/drawingml/2006/main">
            <a:off x="720000" y="72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200" b="1">
                <a:solidFill>
                  <a:srgbClr val="FFFFFF"/>
                </a:solidFill>
                <a:latin typeface="Calibri"/>
                <a:ea typeface="Calibri"/>
              </a:rPr>
              <a:t>Conclusion &amp; Next Steps</a:t>
            </a:r>
          </a:p>
        </p:txBody>
      </p:sp>
      <p:sp>
        <p:nvSpPr>
          <p:cNvPr id="100133" name="Summary"/>
          <p:cNvSpPr txBox="1"/>
          <p:nvPr/>
        </p:nvSpPr>
        <p:spPr>
          <a:xfrm xmlns:a="http://schemas.openxmlformats.org/drawingml/2006/main">
            <a:off x="720000" y="180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8D8EA"/>
                </a:solidFill>
                <a:latin typeface="Calibri"/>
                <a:ea typeface="Calibri"/>
              </a:rPr>
              <a:t>NutritionAgent delivers AI-powered dietary intelligence via IBM WatsonX, providing real-time, evidence-based guidance through a simple conversational interface.</a:t>
            </a:r>
          </a:p>
        </p:txBody>
      </p:sp>
      <p:sp>
        <p:nvSpPr>
          <p:cNvPr id="100134" name="NextLabel"/>
          <p:cNvSpPr txBox="1"/>
          <p:nvPr/>
        </p:nvSpPr>
        <p:spPr>
          <a:xfrm xmlns:a="http://schemas.openxmlformats.org/drawingml/2006/main">
            <a:off x="720000" y="270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ABC9C"/>
                </a:solidFill>
                <a:latin typeface="Calibri"/>
                <a:ea typeface="Calibri"/>
              </a:rPr>
              <a:t>Planned Enhancements</a:t>
            </a:r>
          </a:p>
        </p:txBody>
      </p:sp>
      <p:sp>
        <p:nvSpPr>
          <p:cNvPr id="100135" name="Next1"/>
          <p:cNvSpPr txBox="1"/>
          <p:nvPr/>
        </p:nvSpPr>
        <p:spPr>
          <a:xfrm xmlns:a="http://schemas.openxmlformats.org/drawingml/2006/main">
            <a:off x="720000" y="3060000"/>
            <a:ext cx="50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Voice Input Support — Speech-to-text for hands-free queries</a:t>
            </a:r>
          </a:p>
        </p:txBody>
      </p:sp>
      <p:sp>
        <p:nvSpPr>
          <p:cNvPr id="100136" name="Next2"/>
          <p:cNvSpPr txBox="1"/>
          <p:nvPr/>
        </p:nvSpPr>
        <p:spPr>
          <a:xfrm xmlns:a="http://schemas.openxmlformats.org/drawingml/2006/main">
            <a:off x="6120000" y="3060000"/>
            <a:ext cx="50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Food Image Recognition — Upload a photo to analyze its nutrition</a:t>
            </a:r>
          </a:p>
        </p:txBody>
      </p:sp>
      <p:sp>
        <p:nvSpPr>
          <p:cNvPr id="100137" name="Next3"/>
          <p:cNvSpPr txBox="1"/>
          <p:nvPr/>
        </p:nvSpPr>
        <p:spPr>
          <a:xfrm xmlns:a="http://schemas.openxmlformats.org/drawingml/2006/main">
            <a:off x="720000" y="3960000"/>
            <a:ext cx="50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User Profile &amp; History — Persistent tracking of daily food intake</a:t>
            </a:r>
          </a:p>
        </p:txBody>
      </p:sp>
      <p:sp>
        <p:nvSpPr>
          <p:cNvPr id="100138" name="Next4"/>
          <p:cNvSpPr txBox="1"/>
          <p:nvPr/>
        </p:nvSpPr>
        <p:spPr>
          <a:xfrm xmlns:a="http://schemas.openxmlformats.org/drawingml/2006/main">
            <a:off x="6120000" y="3960000"/>
            <a:ext cx="50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API Integration — Connect to live nutrition databases (USDA, Edamam)</a:t>
            </a:r>
          </a:p>
        </p:txBody>
      </p:sp>
      <p:sp>
        <p:nvSpPr>
          <p:cNvPr id="100139" name="RepoFinal"/>
          <p:cNvSpPr txBox="1"/>
          <p:nvPr/>
        </p:nvSpPr>
        <p:spPr>
          <a:xfrm xmlns:a="http://schemas.openxmlformats.org/drawingml/2006/main">
            <a:off x="720000" y="576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BC9C"/>
                </a:solidFill>
                <a:latin typeface="Calibri"/>
                <a:ea typeface="Calibri"/>
              </a:rPr>
              <a:t>github.com/YogeshRaje/NutritionAgent-IBMBob  |  Built with IBM Bob &amp; WatsonX AI</a:t>
            </a:r>
          </a:p>
        </p:txBody>
      </p:sp>
      <p:sp>
        <p:nvSpPr>
          <p:cNvPr id="100140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BC9C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2026-10-13T08:25:15Z</dcterms:created>
  <cp:lastModifiedBy>OfficeCLI</cp:lastModifiedBy>
  <dcterms:modified xsi:type="dcterms:W3CDTF">2026-10-13T08:25:15Z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2026-10-13T08:29:34Z</vt:lpwstr>
  </op:property>
</op:Properties>
</file>